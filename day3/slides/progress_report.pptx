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0362895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63040" y="1371600"/>
            <a:ext cx="3474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情動イメージング演習 進捗報告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9235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OpenFaceを用いた顔画像からの情動解析</a:t>
            </a:r>
          </a:p>
          <a:p>
            <a:pPr>
              <a:defRPr sz="1900">
                <a:solidFill>
                  <a:srgbClr val="38BDF8"/>
                </a:solidFill>
              </a:defRPr>
            </a:pPr>
            <a:r>
              <a:t>〜 第1回〜第3回演習課題の実装完了と独自発展システムの開発報告 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749039"/>
            <a:ext cx="9235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■ 実施状況サマリー:</a:t>
            </a:r>
            <a:br/>
            <a:r>
              <a:t>• 実活動日（Day1・Day2）においてテキスト全3回分の課題をすべて前倒し実装完了</a:t>
            </a:r>
            <a:br/>
            <a:r>
              <a:t>• 頭部姿勢(Head Pose)・Action Unit・時系列差分・平滑化・Emotion Timelineの実装</a:t>
            </a:r>
            <a:br/>
            <a:r>
              <a:t>• OpenCVとMatplotlibを同期させたリアルタイム動画・情動可視化ツールの独自開発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発表日: 2026年10月22日 | 情報・データサイエンス学部 3年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"/>
            <a:ext cx="2048256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PROGRESS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4096" y="109728"/>
            <a:ext cx="7552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演習全体の進捗状況サマリー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4096" y="566928"/>
            <a:ext cx="75529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</a:defRPr>
            </a:pPr>
            <a:r>
              <a:t>シラバス全4回に対する我々の実作業（Day 1・Day 2）での前倒し達成対比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onsolas"/>
              </a:defRPr>
            </a:pPr>
            <a:r>
              <a:t>02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情動イメージング演習 進捗報告 | 情報・データサイエンス学部3年 | 実装進捗：Day1〜Day3課題完了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3429000" cy="484632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325880"/>
            <a:ext cx="34290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5448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第1回 相当 (Day1実施)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顔を「データ」として測る</a:t>
            </a:r>
            <a:br/>
          </a:p>
          <a:p>
            <a:pPr>
              <a:defRPr sz="1100" b="0">
                <a:solidFill>
                  <a:srgbClr val="CBD5E1"/>
                </a:solidFill>
              </a:defRPr>
            </a:pPr>
            <a:r>
              <a:t>• OpenFaceによる動画からのデータ抽出</a:t>
            </a:r>
          </a:p>
          <a:p>
            <a:pPr>
              <a:defRPr sz="1100" b="0">
                <a:solidFill>
                  <a:srgbClr val="CBD5E1"/>
                </a:solidFill>
              </a:defRPr>
            </a:pPr>
            <a:r>
              <a:t>• 頭部姿勢 (Pitch/Yaw/Roll) の解析</a:t>
            </a:r>
          </a:p>
          <a:p>
            <a:pPr>
              <a:defRPr sz="1100" b="0">
                <a:solidFill>
                  <a:srgbClr val="CBD5E1"/>
                </a:solidFill>
              </a:defRPr>
            </a:pPr>
            <a:r>
              <a:t>• 頭部姿勢時系列グラフ化 (plot_sayu.py)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• 【達成】動画動作と数値の対応関係を把握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325880"/>
            <a:ext cx="3429000" cy="484632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25880"/>
            <a:ext cx="34290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55448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第2回 相当 (Day1実施)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表情を数値として測る</a:t>
            </a:r>
            <a:br/>
          </a:p>
          <a:p>
            <a:pPr>
              <a:defRPr sz="1100" b="0">
                <a:solidFill>
                  <a:srgbClr val="CBD5E1"/>
                </a:solidFill>
              </a:defRPr>
            </a:pPr>
            <a:r>
              <a:t>• Facial Action Unit (AU) の時系列抽出</a:t>
            </a:r>
          </a:p>
          <a:p>
            <a:pPr>
              <a:defRPr sz="1100" b="0">
                <a:solidFill>
                  <a:srgbClr val="CBD5E1"/>
                </a:solidFill>
              </a:defRPr>
            </a:pPr>
            <a:r>
              <a:t>• 笑顔(AU06, AU12)・驚き(AU01,02,05,25,26)</a:t>
            </a:r>
          </a:p>
          <a:p>
            <a:pPr>
              <a:defRPr sz="1100" b="0">
                <a:solidFill>
                  <a:srgbClr val="CBD5E1"/>
                </a:solidFill>
              </a:defRPr>
            </a:pPr>
            <a:r>
              <a:t>• 独自情動指標の作成 (2-kadai.py)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• 【達成】Happy, Surprise, Sadness を数式化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325880"/>
            <a:ext cx="3429000" cy="484632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325880"/>
            <a:ext cx="34290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55448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第3回 相当 (Day2実施)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時間変化から情動を読む</a:t>
            </a:r>
            <a:br/>
          </a:p>
          <a:p>
            <a:pPr>
              <a:defRPr sz="1100" b="0">
                <a:solidFill>
                  <a:srgbClr val="CBD5E1"/>
                </a:solidFill>
              </a:defRPr>
            </a:pPr>
            <a:r>
              <a:t>• AU12のフレーム差分計算 (3-1.py)</a:t>
            </a:r>
          </a:p>
          <a:p>
            <a:pPr>
              <a:defRPr sz="1100" b="0">
                <a:solidFill>
                  <a:srgbClr val="CBD5E1"/>
                </a:solidFill>
              </a:defRPr>
            </a:pPr>
            <a:r>
              <a:t>• しきい値判定によるイベント検出 (3-2.py)</a:t>
            </a:r>
          </a:p>
          <a:p>
            <a:pPr>
              <a:defRPr sz="1100" b="0">
                <a:solidFill>
                  <a:srgbClr val="CBD5E1"/>
                </a:solidFill>
              </a:defRPr>
            </a:pPr>
            <a:r>
              <a:t>• 移動平均によるノイズ平滑化 (3-2_MA.py)</a:t>
            </a:r>
          </a:p>
          <a:p>
            <a:pPr>
              <a:defRPr sz="1100" b="0">
                <a:solidFill>
                  <a:srgbClr val="CBD5E1"/>
                </a:solidFill>
              </a:defRPr>
            </a:pPr>
            <a:r>
              <a:t>• 4段 Emotion Timeline の作成 (3-hukusen.py)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• 【独自発展】動画同期プレイヤー (3-WB.py)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"/>
            <a:ext cx="164592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DAY 1 実績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0972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頭部姿勢の時系列可視化 (Head Pose)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566928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</a:defRPr>
            </a:pPr>
            <a:r>
              <a:t>動画中の頭部運動（左右・上下・傾き）を客観的な角度（rad）データとして抽出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onsolas"/>
              </a:defRPr>
            </a:pPr>
            <a:r>
              <a:t>03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情動イメージング演習 進捗報告 | 情報・データサイエンス学部3年 | 実装進捗：Day1〜Day3課題完了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■ 実施内容・目的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対象データ: Sayu.csv (頭部運動動画の解析結果)</a:t>
            </a:r>
            <a:br/>
            <a:r>
              <a:t>• pose_Rx (Pitch: 上下), pose_Ry (Yaw: 左右), pose_Rz (Roll: 傾き) の3軸角度変化を抽出・プロット。</a:t>
            </a:r>
            <a:br/>
            <a:r>
              <a:t>• 「動画を目視する」状態から「数値変化として比較・統計処理できる」データへの変換を実証。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■ 作成コード (plot_sayu.py 抜粋)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91840"/>
            <a:ext cx="4754880" cy="1554480"/>
          </a:xfrm>
          <a:prstGeom prst="roundRect">
            <a:avLst/>
          </a:prstGeom>
          <a:solidFill>
            <a:srgbClr val="070B14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3C5FD"/>
                </a:solidFill>
                <a:latin typeface="Consolas"/>
              </a:defRPr>
            </a:pPr>
            <a:r>
              <a:t>df = pd.read_csv('Sayu.csv')</a:t>
            </a:r>
            <a:br/>
            <a:r>
              <a:t>df.columns = df.columns.str.strip()</a:t>
            </a:r>
            <a:br/>
            <a:r>
              <a:t>plt.plot(df['timestamp'], df['pose_Rx'], label='Pitch')</a:t>
            </a:r>
            <a:br/>
            <a:r>
              <a:t>plt.plot(df['timestamp'], df['pose_Ry'], label='Yaw')</a:t>
            </a:r>
            <a:br/>
            <a:r>
              <a:t>plt.plot(df['timestamp'], df['pose_Rz'], label='Roll')</a:t>
            </a:r>
            <a:br/>
            <a:r>
              <a:t>plt.savefig('Sayu_pose.png')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4754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■ 考察・知見</a:t>
            </a:r>
            <a:br/>
            <a:r>
              <a:t>・左右に振ったタイミングで pose_Ry が大きく正負に変動。</a:t>
            </a:r>
            <a:br/>
            <a:r>
              <a:t>・身体動作を明瞭な時系列ピークとして捉えることが確認できた。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ayu_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4846320" cy="2423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56692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図: Sayu_pose.png (頭部3軸回転角の時系列プロット)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"/>
            <a:ext cx="164592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DAY 1 実績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0972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Action Unit (AU) による顔表情の数値化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566928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</a:defRPr>
            </a:pPr>
            <a:r>
              <a:t>FACS（顔面動作符号化システム）に基づき、筋肉の微小動作を強度値として定量化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onsolas"/>
              </a:defRPr>
            </a:pPr>
            <a:r>
              <a:t>04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情動イメージング演習 進捗報告 | 情報・データサイエンス学部3年 | 実装進捗：Day1〜Day3課題完了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■ 観測対象と筋運動の対応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AU06_r (頬上げ): 眼輪筋の収縮。自然な笑顔で強く生起。</a:t>
            </a:r>
            <a:br/>
            <a:r>
              <a:t>• AU12_r (口角上げ): 大頬骨筋の収縮。笑顔の主要決定因子。</a:t>
            </a:r>
            <a:br/>
            <a:r>
              <a:t>• AU04_r (眉下げ): 皺眉筋の収縮。困惑・集中・不快時に上昇。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■ 作成コード (2-2.py)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91840"/>
            <a:ext cx="5120640" cy="1554480"/>
          </a:xfrm>
          <a:prstGeom prst="roundRect">
            <a:avLst/>
          </a:prstGeom>
          <a:solidFill>
            <a:srgbClr val="070B14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3C5FD"/>
                </a:solidFill>
                <a:latin typeface="Consolas"/>
              </a:defRPr>
            </a:pPr>
            <a:r>
              <a:t>df = pd.read_csv('2-2.csv')</a:t>
            </a:r>
            <a:br/>
            <a:r>
              <a:t>df.columns = df.columns.str.strip()</a:t>
            </a:r>
            <a:br/>
            <a:r>
              <a:t>plt.plot(df['timestamp'], df['AU06_r'], label='AU06')</a:t>
            </a:r>
            <a:br/>
            <a:r>
              <a:t>plt.plot(df['timestamp'], df['AU12_r'], label='AU12')</a:t>
            </a:r>
            <a:br/>
            <a:r>
              <a:t>plt.plot(df['timestamp'], df['AU04_r'], label='AU04')</a:t>
            </a:r>
            <a:br/>
            <a:r>
              <a:t>plt.legend(); plt.show()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5120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■ 観測結果と考察</a:t>
            </a:r>
            <a:br/>
            <a:r>
              <a:t>・笑顔区間（中盤）において、AU06とAU12が同期して急上昇。</a:t>
            </a:r>
            <a:br/>
            <a:r>
              <a:t>・感情を主観で決めるのではなく、筋運動の客観強度として評価可能。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280160"/>
            <a:ext cx="484632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3040"/>
            <a:ext cx="3282750" cy="4389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0" y="58978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図: 2-2.png (AU06, AU12, AU04 の時系列変化)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"/>
            <a:ext cx="164592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DAY 1 実績 (3)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0972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複合AU分析と独自情動指標のモデリング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566928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</a:defRPr>
            </a:pPr>
            <a:r>
              <a:t>複数AUの組み合わせによる「驚き(Surprise)」分析と独自指標（Happy, Sadness等）の設計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onsolas"/>
              </a:defRPr>
            </a:pPr>
            <a:r>
              <a:t>05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情動イメージング演習 進捗報告 | 情報・データサイエンス学部3年 | 実装進捗：Day1〜Day3課題完了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演習3: 驚き(Surprise)区間のAU多変量解析 (2-3.py)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内外眉上げ(AU01,02)、上まぶた(AU05)、開口(AU25,26)が同時に生起する瞬間を可視化。</a:t>
            </a:r>
          </a:p>
        </p:txBody>
      </p:sp>
      <p:pic>
        <p:nvPicPr>
          <p:cNvPr id="13" name="Picture 12" descr="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43200"/>
            <a:ext cx="4389120" cy="3291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課題: 独自 Emotion Index の数式定義 (2-kadai.py)</a:t>
            </a:r>
          </a:p>
          <a:p>
            <a:pPr>
              <a:defRPr sz="1000">
                <a:solidFill>
                  <a:srgbClr val="93C5FD"/>
                </a:solidFill>
                <a:latin typeface="Consolas"/>
              </a:defRPr>
            </a:pPr>
            <a:r>
              <a:t>df['happy'] = df['AU25_r']</a:t>
            </a:r>
            <a:br/>
            <a:r>
              <a:t>df['surprise'] = df['AU01_r'] + df['AU02_r'] + df['AU05_r'] + df['AU26_r']</a:t>
            </a:r>
            <a:br/>
            <a:r>
              <a:t>df['sadness'] = df['AU04_r']</a:t>
            </a:r>
          </a:p>
        </p:txBody>
      </p:sp>
      <p:pic>
        <p:nvPicPr>
          <p:cNvPr id="16" name="Picture 15" descr="2-kad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17520"/>
            <a:ext cx="4846320" cy="26913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"/>
            <a:ext cx="164592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DAY 2 実績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0972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時系列差分とイベント検出フラグ化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566928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</a:defRPr>
            </a:pPr>
            <a:r>
              <a:t>静止画的特徴から動画時系列へ：急峻な変化点の抽出としきい値による離散イベント化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onsolas"/>
              </a:defRPr>
            </a:pPr>
            <a:r>
              <a:t>06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情動イメージング演習 進捗報告 | 情報・データサイエンス学部3年 | 実装進捗：Day1〜Day3課題完了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① フレーム間差分による変化点検出 (3-1.py)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コード: df['AU12_diff'] = df['AU12_r'].diff()</a:t>
            </a:r>
            <a:br/>
            <a:r>
              <a:t>• 表情の「絶対値」だけでなく「表情が動いた瞬間」を特定。</a:t>
            </a:r>
          </a:p>
        </p:txBody>
      </p:sp>
      <p:pic>
        <p:nvPicPr>
          <p:cNvPr id="13" name="Picture 12" descr="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34640"/>
            <a:ext cx="4389120" cy="3291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② 閾値処理によるイベントフラグ化 (3-2.py)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コード: df['smileFlag'] = (df['AU12_r'] &gt; 2).astype(int)</a:t>
            </a:r>
            <a:br/>
            <a:r>
              <a:t>• 連続値を0/1のイベント生起系列としてバイナリ化。</a:t>
            </a:r>
          </a:p>
        </p:txBody>
      </p:sp>
      <p:pic>
        <p:nvPicPr>
          <p:cNvPr id="16" name="Picture 15" descr="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926080"/>
            <a:ext cx="4846320" cy="2691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"/>
            <a:ext cx="164592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DAY 2 実績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0972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移動平均フィルタによるノイズ低減と平滑化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566928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</a:defRPr>
            </a:pPr>
            <a:r>
              <a:t>顔画像トラッキング特有の高周波ノイズを除去し、本質的な情動トレンドを抽出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onsolas"/>
              </a:defRPr>
            </a:pPr>
            <a:r>
              <a:t>07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情動イメージング演習 進捗報告 | 情報・データサイエンス学部3年 | 実装進捗：Day1〜Day3課題完了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■ 課題意識とアプローチ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OpenFaceの推定値には微小なフレーム間のジッターやノイズが混入しやすい。</a:t>
            </a:r>
            <a:br/>
            <a:r>
              <a:t>• 移動平均 (Rolling Mean) を適用し、安定した情動軌跡を算出。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■ 作成コード (3-2_MA.py)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08960"/>
            <a:ext cx="4754880" cy="1828800"/>
          </a:xfrm>
          <a:prstGeom prst="roundRect">
            <a:avLst/>
          </a:prstGeom>
          <a:solidFill>
            <a:srgbClr val="070B14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3C5FD"/>
                </a:solidFill>
                <a:latin typeface="Consolas"/>
              </a:defRPr>
            </a:pPr>
            <a:r>
              <a:t>df['AU_smooth'] = (</a:t>
            </a:r>
            <a:br/>
            <a:r>
              <a:t>    df['AU12_r']</a:t>
            </a:r>
            <a:br/>
            <a:r>
              <a:t>    .rolling(window=8, center=True)</a:t>
            </a:r>
            <a:br/>
            <a:r>
              <a:t>    .mean()</a:t>
            </a:r>
            <a:br/>
            <a:r>
              <a:t>)</a:t>
            </a:r>
            <a:br/>
            <a:r>
              <a:t>plt.plot(df['timestamp'], df['AU12_r'], label='Raw')</a:t>
            </a:r>
            <a:br/>
            <a:r>
              <a:t>plt.plot(df['timestamp'], df['AU_smooth'], label='Smooth')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■ 考察：windowサイズのトレードオフ</a:t>
            </a:r>
            <a:br/>
            <a:r>
              <a:t>・window=8 (約0.25秒分): 立ち上がり遅延を抑えつつ振動を効果的に除去。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3-2_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4846320" cy="26913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0" y="56692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図: 3-2_MA.png (生データ vs 移動平均平滑化データの比較)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"/>
            <a:ext cx="164592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DAY 2 実績 (3)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0972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複合時系列可視化（Emotion Timeline）の構築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566928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</a:defRPr>
            </a:pPr>
            <a:r>
              <a:t>テキスト第3コマの最重要課題：複数指標（Smile, AU04, 頭部運動, まばたき）を多段統合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onsolas"/>
              </a:defRPr>
            </a:pPr>
            <a:r>
              <a:t>08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情動イメージング演習 進捗報告 | 情報・データサイエンス学部3年 | 実装進捗：Day1〜Day3課題完了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■ Emotion Timeline 構成要素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1. Smile Score: (AU12_r &gt; 2) → 笑顔イベント</a:t>
            </a:r>
            <a:br/>
            <a:r>
              <a:t>2. AU04: (AU04_r &gt; 1) → 眉間の緊張・集中</a:t>
            </a:r>
            <a:br/>
            <a:r>
              <a:t>3. Head movement: (pose_Rz.diff() &lt; -0.005) → 首の傾き</a:t>
            </a:r>
            <a:br/>
            <a:r>
              <a:t>4. Blink: (AU45_c &gt; 0) → まばたき生起フラグ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■ 作成コード (3-hukusen.py 抜粋)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91840"/>
            <a:ext cx="4754880" cy="1554480"/>
          </a:xfrm>
          <a:prstGeom prst="roundRect">
            <a:avLst/>
          </a:prstGeom>
          <a:solidFill>
            <a:srgbClr val="070B14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3C5FD"/>
                </a:solidFill>
                <a:latin typeface="Consolas"/>
              </a:defRPr>
            </a:pPr>
            <a:r>
              <a:t>fig, axes = plt.subplots(4, 1, figsize=(10, 8), sharex=True)</a:t>
            </a:r>
            <a:br/>
            <a:r>
              <a:t>axes[0].plot(df['timestamp'], df['Smile Score'])</a:t>
            </a:r>
            <a:br/>
            <a:r>
              <a:t>axes[1].plot(df['timestamp'], df['AU04'])</a:t>
            </a:r>
            <a:br/>
            <a:r>
              <a:t>axes[2].plot(df['timestamp'], df['Head movement'])</a:t>
            </a:r>
            <a:br/>
            <a:r>
              <a:t>axes[3].plot(df['timestamp'], df['Blink'])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4754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■ 成果と意義</a:t>
            </a:r>
            <a:br/>
            <a:r>
              <a:t>・異種指標の同期により「頷きと同時に笑顔が生じる」「考え込むときにまばたきが減る」等の共起現象を発見可能に。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3-huku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5486400" cy="4389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0" y="58978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図: 3-hukusen.png (4段マルチプロットによるEmotion Timeline)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"/>
            <a:ext cx="1664208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ADVANCED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109728"/>
            <a:ext cx="7936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動画・時系列グラフ リアルタイム同期プレイヤー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566928"/>
            <a:ext cx="7936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</a:defRPr>
            </a:pPr>
            <a:r>
              <a:t>テキストの構想をさらに発展：OpenCVとMatplotlibのアニメーションによる完全同期可視化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onsolas"/>
              </a:defRPr>
            </a:pPr>
            <a:r>
              <a:t>09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情動イメージング演習 進捗報告 | 情報・データサイエンス学部3年 | 実装進捗：Day1〜Day3課題完了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■ 独自開発の狙いと特徴 (3-WB.py)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テキスト記載の「上段に動画、中段にAU、下段に頭部運動」という理想構成を静止画ではなく動的同期プレイヤーとして具現化。</a:t>
            </a:r>
            <a:br/>
            <a:r>
              <a:t>• 技術構成: cv2.VideoCapture + FuncAnimation</a:t>
            </a:r>
            <a:br/>
            <a:r>
              <a:t>• 再生位置バー（赤破線）が現在のフレーム時刻に追従してリアルタイム移動。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■ 主要実装ハイライト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91840"/>
            <a:ext cx="4754880" cy="1554480"/>
          </a:xfrm>
          <a:prstGeom prst="roundRect">
            <a:avLst/>
          </a:prstGeom>
          <a:solidFill>
            <a:srgbClr val="070B14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3C5FD"/>
                </a:solidFill>
                <a:latin typeface="Consolas"/>
              </a:defRPr>
            </a:pPr>
            <a:r>
              <a:t>gs = fig.add_gridspec(3, 1, height_ratios=[2, 1, 1])</a:t>
            </a:r>
            <a:br/>
            <a:r>
              <a:t>def update(frame_idx):</a:t>
            </a:r>
            <a:br/>
            <a:r>
              <a:t>    ret, frame = cap.read()</a:t>
            </a:r>
            <a:br/>
            <a:r>
              <a:t>    im.set_data(cv2.cvtColor(frame, cv2.COLOR_BGR2RGB))</a:t>
            </a:r>
            <a:br/>
            <a:r>
              <a:t>    line_au.set_xdata([t, t])</a:t>
            </a:r>
            <a:br/>
            <a:r>
              <a:t>    line_head.set_xdata([t, t])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4754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■ 効果</a:t>
            </a:r>
            <a:br/>
            <a:r>
              <a:t>・数値ピークと実際の顔の動きを遅延なく直感照合でき、アノテーション検証効率が飛躍的に向上。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3-W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5486400" cy="4389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0" y="58978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図: 3-WB.png (動画フレームとAU・頭部運動の完全同期ビューア)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"/>
            <a:ext cx="3072384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78224" y="109728"/>
            <a:ext cx="6528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成果のまとめと第4回（ミニプロジェクト）への展望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8224" y="566928"/>
            <a:ext cx="6528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</a:defRPr>
            </a:pPr>
            <a:r>
              <a:t>第4回に向けた挑戦：マルチモーダル特徴量による『嘘発見器』の精度向上とアプリ開発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onsolas"/>
              </a:defRPr>
            </a:pPr>
            <a:r>
              <a:t>10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情動イメージング演習 進捗報告 | 情報・データサイエンス学部3年 | 実装進捗：Day1〜Day3課題完了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■ ここまでの到達点（基盤確立）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1. 実活動2日間でテキスト全3回分を完全走破:</a:t>
            </a:r>
            <a:br/>
            <a:r>
              <a:t>   - OpenFaceによる特徴抽出（頭部姿勢、AU、視線、瞬目）</a:t>
            </a:r>
            <a:br/>
            <a:r>
              <a:t>   - FACS/AUの解析と独自情動指標のモデリング</a:t>
            </a:r>
            <a:br/>
            <a:r>
              <a:t>   - 時系列差分・閾値イベント化・移動平均平滑化</a:t>
            </a:r>
            <a:br/>
            <a:r>
              <a:t>   - 4段Emotion Timelineの構築</a:t>
            </a:r>
            <a:br/>
            <a:r>
              <a:t>2. 独自同期アニメーションツールの完成 (3-WB.py):</a:t>
            </a:r>
            <a:br/>
            <a:r>
              <a:t>   - 動画と時系列グラフのリアルタイム同期検証基盤を確立</a:t>
            </a:r>
            <a:br/>
            <a:r>
              <a:t>3. データサイエンスとしての視座:</a:t>
            </a:r>
            <a:br/>
            <a:r>
              <a:t>   - Pixel → Feature → Behavior → State → Emotion の階層性を理解し、客観的現象と心理推定を分離して扱う素養を習得。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4846320"/>
          </a:xfrm>
          <a:prstGeom prst="roundRect">
            <a:avLst/>
          </a:prstGeom>
          <a:solidFill>
            <a:srgbClr val="141D31"/>
          </a:solidFill>
          <a:ln>
            <a:solidFill>
              <a:srgbClr val="26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■ 第4回 計画：『嘘発見器』の高度化＆アプリ開発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1. 嘘発見（虚偽検出）の精度向上アプローチ:</a:t>
            </a:r>
            <a:br/>
            <a:r>
              <a:t>   ・多変量特徴の統合: まばたき急増(AU45)、視線の泳ぎ(gaze)、作り笑顔(AU12有/AU06無)、眉間の緊張(AU04)の複合解析</a:t>
            </a:r>
            <a:br/>
            <a:r>
              <a:t>   ・微表情（マイクロエクスプレッション）の差分検出</a:t>
            </a:r>
            <a:br/>
            <a:r>
              <a:t>   ・機械学習の導入: scikit-learnによる真実回答時 vs 虚偽回答時の分類モデル（SVM/Random Forest）学習</a:t>
            </a:r>
            <a:br/>
            <a:r>
              <a:t>2. 実用的な『嘘発見アプリ』の開発:</a:t>
            </a:r>
            <a:br/>
            <a:r>
              <a:t>   ・3-WB.pyの同期技術を発展させ、リアルタイムカメラ映像から「嘘らしさスコア(Deception Index)」を即時判定・描画するGUIアプリを実装</a:t>
            </a:r>
            <a:br/>
            <a:r>
              <a:t>   ・質問提示と連動した自動アノテーション・判定UIの構築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